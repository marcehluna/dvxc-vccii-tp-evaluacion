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1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aca, Francisco Valentin" userId="e272892e-efee-4816-8302-583e1361a739" providerId="ADAL" clId="{E7B1CEC9-2150-41CD-8F8B-A6EDC759EC6B}"/>
    <pc:docChg chg="undo custSel modSld">
      <pc:chgData name="Meaca, Francisco Valentin" userId="e272892e-efee-4816-8302-583e1361a739" providerId="ADAL" clId="{E7B1CEC9-2150-41CD-8F8B-A6EDC759EC6B}" dt="2026-10-11T23:56:08.091" v="34" actId="478"/>
      <pc:docMkLst>
        <pc:docMk/>
      </pc:docMkLst>
      <pc:sldChg chg="addSp delSp modSp mod">
        <pc:chgData name="Meaca, Francisco Valentin" userId="e272892e-efee-4816-8302-583e1361a739" providerId="ADAL" clId="{E7B1CEC9-2150-41CD-8F8B-A6EDC759EC6B}" dt="2026-10-11T23:55:04.799" v="7" actId="14100"/>
        <pc:sldMkLst>
          <pc:docMk/>
          <pc:sldMk cId="0" sldId="256"/>
        </pc:sldMkLst>
        <pc:spChg chg="add del">
          <ac:chgData name="Meaca, Francisco Valentin" userId="e272892e-efee-4816-8302-583e1361a739" providerId="ADAL" clId="{E7B1CEC9-2150-41CD-8F8B-A6EDC759EC6B}" dt="2026-10-11T23:54:07.698" v="1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Meaca, Francisco Valentin" userId="e272892e-efee-4816-8302-583e1361a739" providerId="ADAL" clId="{E7B1CEC9-2150-41CD-8F8B-A6EDC759EC6B}" dt="2026-10-11T23:54:09.412" v="2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Meaca, Francisco Valentin" userId="e272892e-efee-4816-8302-583e1361a739" providerId="ADAL" clId="{E7B1CEC9-2150-41CD-8F8B-A6EDC759EC6B}" dt="2026-10-11T23:54:11.032" v="3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Meaca, Francisco Valentin" userId="e272892e-efee-4816-8302-583e1361a739" providerId="ADAL" clId="{E7B1CEC9-2150-41CD-8F8B-A6EDC759EC6B}" dt="2026-10-11T23:54:28.605" v="4" actId="255"/>
          <ac:spMkLst>
            <pc:docMk/>
            <pc:sldMk cId="0" sldId="256"/>
            <ac:spMk id="9" creationId="{00000000-0000-0000-0000-000000000000}"/>
          </ac:spMkLst>
        </pc:spChg>
        <pc:spChg chg="mod">
          <ac:chgData name="Meaca, Francisco Valentin" userId="e272892e-efee-4816-8302-583e1361a739" providerId="ADAL" clId="{E7B1CEC9-2150-41CD-8F8B-A6EDC759EC6B}" dt="2026-10-11T23:55:04.799" v="7" actId="1410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eaca, Francisco Valentin" userId="e272892e-efee-4816-8302-583e1361a739" providerId="ADAL" clId="{E7B1CEC9-2150-41CD-8F8B-A6EDC759EC6B}" dt="2026-10-11T23:54:42.734" v="5" actId="255"/>
          <ac:spMkLst>
            <pc:docMk/>
            <pc:sldMk cId="0" sldId="256"/>
            <ac:spMk id="13" creationId="{00000000-0000-0000-0000-000000000000}"/>
          </ac:spMkLst>
        </pc:spChg>
      </pc:sldChg>
      <pc:sldChg chg="delSp modSp mod">
        <pc:chgData name="Meaca, Francisco Valentin" userId="e272892e-efee-4816-8302-583e1361a739" providerId="ADAL" clId="{E7B1CEC9-2150-41CD-8F8B-A6EDC759EC6B}" dt="2026-10-11T23:56:08.091" v="34" actId="478"/>
        <pc:sldMkLst>
          <pc:docMk/>
          <pc:sldMk cId="0" sldId="261"/>
        </pc:sldMkLst>
        <pc:spChg chg="del mod">
          <ac:chgData name="Meaca, Francisco Valentin" userId="e272892e-efee-4816-8302-583e1361a739" providerId="ADAL" clId="{E7B1CEC9-2150-41CD-8F8B-A6EDC759EC6B}" dt="2026-10-11T23:55:47.430" v="14"/>
          <ac:spMkLst>
            <pc:docMk/>
            <pc:sldMk cId="0" sldId="261"/>
            <ac:spMk id="7" creationId="{00000000-0000-0000-0000-000000000000}"/>
          </ac:spMkLst>
        </pc:spChg>
        <pc:spChg chg="del mod">
          <ac:chgData name="Meaca, Francisco Valentin" userId="e272892e-efee-4816-8302-583e1361a739" providerId="ADAL" clId="{E7B1CEC9-2150-41CD-8F8B-A6EDC759EC6B}" dt="2026-10-11T23:55:52.969" v="33"/>
          <ac:spMkLst>
            <pc:docMk/>
            <pc:sldMk cId="0" sldId="261"/>
            <ac:spMk id="8" creationId="{00000000-0000-0000-0000-000000000000}"/>
          </ac:spMkLst>
        </pc:spChg>
        <pc:spChg chg="del">
          <ac:chgData name="Meaca, Francisco Valentin" userId="e272892e-efee-4816-8302-583e1361a739" providerId="ADAL" clId="{E7B1CEC9-2150-41CD-8F8B-A6EDC759EC6B}" dt="2026-10-11T23:56:08.091" v="34" actId="478"/>
          <ac:spMkLst>
            <pc:docMk/>
            <pc:sldMk cId="0" sldId="261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stante2.jpg"/>
          <p:cNvPicPr>
            <a:picLocks noChangeAspect="1"/>
          </p:cNvPicPr>
          <p:nvPr/>
        </p:nvPicPr>
        <p:blipFill>
          <a:blip r:embed="rId2"/>
          <a:srcRect l="21100" r="21100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757416" y="0"/>
            <a:ext cx="164592" cy="6858000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347472"/>
            <a:ext cx="365760" cy="36576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411480"/>
            <a:ext cx="45720" cy="237744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411480"/>
            <a:ext cx="137160" cy="237744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89888"/>
            <a:ext cx="544068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DBAE56"/>
                </a:solidFill>
                <a:latin typeface="Aptos"/>
              </a:rPr>
              <a:t>TRABAJO FINAL · VISIÓN POR COMPUTADORA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46504"/>
            <a:ext cx="55321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DF8"/>
                </a:solidFill>
                <a:latin typeface="Aptos Display"/>
              </a:rPr>
              <a:t>Inventario visual
de bibliotecas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182112"/>
            <a:ext cx="5349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 i="0" dirty="0" err="1">
                <a:solidFill>
                  <a:srgbClr val="DCE9DF"/>
                </a:solidFill>
                <a:latin typeface="Aptos"/>
              </a:rPr>
              <a:t>Segmentación</a:t>
            </a:r>
            <a:r>
              <a:rPr sz="1550" b="0" i="0" dirty="0">
                <a:solidFill>
                  <a:srgbClr val="DCE9DF"/>
                </a:solidFill>
                <a:latin typeface="Aptos"/>
              </a:rPr>
              <a:t> de </a:t>
            </a:r>
            <a:r>
              <a:rPr sz="1550" b="0" i="0" dirty="0" err="1">
                <a:solidFill>
                  <a:srgbClr val="DCE9DF"/>
                </a:solidFill>
                <a:latin typeface="Aptos"/>
              </a:rPr>
              <a:t>lomos</a:t>
            </a:r>
            <a:r>
              <a:rPr sz="1550" b="0" i="0" dirty="0">
                <a:solidFill>
                  <a:srgbClr val="DCE9DF"/>
                </a:solidFill>
                <a:latin typeface="Aptos"/>
              </a:rPr>
              <a:t> con YOLO26s-seg, OCR y </a:t>
            </a:r>
            <a:r>
              <a:rPr sz="1550" b="0" i="0" dirty="0" err="1">
                <a:solidFill>
                  <a:srgbClr val="DCE9DF"/>
                </a:solidFill>
                <a:latin typeface="Aptos"/>
              </a:rPr>
              <a:t>vinculación</a:t>
            </a:r>
            <a:r>
              <a:rPr sz="1550" b="0" i="0" dirty="0">
                <a:solidFill>
                  <a:srgbClr val="DCE9DF"/>
                </a:solidFill>
                <a:latin typeface="Aptos"/>
              </a:rPr>
              <a:t> con </a:t>
            </a:r>
            <a:r>
              <a:rPr sz="1550" b="0" i="0" dirty="0" err="1">
                <a:solidFill>
                  <a:srgbClr val="DCE9DF"/>
                </a:solidFill>
                <a:latin typeface="Aptos"/>
              </a:rPr>
              <a:t>catálogo</a:t>
            </a:r>
            <a:r>
              <a:rPr sz="1550" b="0" i="0" dirty="0">
                <a:solidFill>
                  <a:srgbClr val="DCE9DF"/>
                </a:solidFill>
                <a:latin typeface="Apto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270248"/>
            <a:ext cx="23876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b="1" i="0" dirty="0">
                <a:solidFill>
                  <a:srgbClr val="DBAE56"/>
                </a:solidFill>
                <a:latin typeface="Aptos"/>
              </a:rPr>
              <a:t>INTEGRANTES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53712"/>
            <a:ext cx="544068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 dirty="0">
                <a:solidFill>
                  <a:srgbClr val="FFFDF8"/>
                </a:solidFill>
                <a:latin typeface="Aptos"/>
              </a:rPr>
              <a:t>Marcelo Luna  ·  Facundo Silberstein  ·  Francisco Meaca  ·  Ian Ezequiel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3620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DCE9DF"/>
                </a:solidFill>
                <a:latin typeface="Aptos"/>
              </a:rPr>
              <a:t>CEIA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C45D3D"/>
                </a:solidFill>
                <a:latin typeface="Aptos"/>
              </a:rPr>
              <a:t>01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73B32"/>
                </a:solidFill>
                <a:latin typeface="Aptos Display"/>
              </a:rPr>
              <a:t>De una foto a un título verificable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7736E"/>
                </a:solidFill>
                <a:latin typeface="Aptos"/>
              </a:rPr>
              <a:t>YOLO26 produce el recorte geométrico que necesita el OCR; cada etapa conserva evidencia revisable.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78A086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73352"/>
            <a:ext cx="1097280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648" y="2322576"/>
            <a:ext cx="1901952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29768" cy="429768"/>
          </a:xfrm>
          <a:prstGeom prst="round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2633472"/>
            <a:ext cx="429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DF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172968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Imagen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94176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67736E"/>
                </a:solidFill>
                <a:latin typeface="Aptos"/>
              </a:rPr>
              <a:t>Foto del estante</a:t>
            </a:r>
          </a:p>
        </p:txBody>
      </p:sp>
      <p:sp>
        <p:nvSpPr>
          <p:cNvPr id="12" name="Chevron 11"/>
          <p:cNvSpPr/>
          <p:nvPr/>
        </p:nvSpPr>
        <p:spPr>
          <a:xfrm>
            <a:off x="2560320" y="3246120"/>
            <a:ext cx="256032" cy="393192"/>
          </a:xfrm>
          <a:prstGeom prst="chevron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52928" y="2322576"/>
            <a:ext cx="1901952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17520" y="2514600"/>
            <a:ext cx="429768" cy="429768"/>
          </a:xfrm>
          <a:prstGeom prst="round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2633472"/>
            <a:ext cx="429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DF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6664" y="3172968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Segmentar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3694176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67736E"/>
                </a:solidFill>
                <a:latin typeface="Aptos"/>
              </a:rPr>
              <a:t>YOLO26s-seg
imgsz 640</a:t>
            </a:r>
          </a:p>
        </p:txBody>
      </p:sp>
      <p:sp>
        <p:nvSpPr>
          <p:cNvPr id="18" name="Chevron 17"/>
          <p:cNvSpPr/>
          <p:nvPr/>
        </p:nvSpPr>
        <p:spPr>
          <a:xfrm>
            <a:off x="4800600" y="3246120"/>
            <a:ext cx="256032" cy="393192"/>
          </a:xfrm>
          <a:prstGeom prst="chevron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93208" y="2322576"/>
            <a:ext cx="1901952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257800" y="2514600"/>
            <a:ext cx="429768" cy="429768"/>
          </a:xfrm>
          <a:prstGeom prst="round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2633472"/>
            <a:ext cx="429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DF8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172968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Enderezar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6088" y="3694176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67736E"/>
                </a:solidFill>
                <a:latin typeface="Aptos"/>
              </a:rPr>
              <a:t>Máscara +
minAreaRect</a:t>
            </a:r>
          </a:p>
        </p:txBody>
      </p:sp>
      <p:sp>
        <p:nvSpPr>
          <p:cNvPr id="24" name="Chevron 23"/>
          <p:cNvSpPr/>
          <p:nvPr/>
        </p:nvSpPr>
        <p:spPr>
          <a:xfrm>
            <a:off x="7040880" y="3246120"/>
            <a:ext cx="256032" cy="393192"/>
          </a:xfrm>
          <a:prstGeom prst="chevron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333488" y="2322576"/>
            <a:ext cx="1901952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498079" y="2514600"/>
            <a:ext cx="429768" cy="429768"/>
          </a:xfrm>
          <a:prstGeom prst="round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79" y="2633472"/>
            <a:ext cx="429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DF8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7223" y="3172968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Leer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7" y="3694176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67736E"/>
                </a:solidFill>
                <a:latin typeface="Aptos"/>
              </a:rPr>
              <a:t>PP-OCRv3
0° / 90° / 270°</a:t>
            </a:r>
          </a:p>
        </p:txBody>
      </p:sp>
      <p:sp>
        <p:nvSpPr>
          <p:cNvPr id="30" name="Chevron 29"/>
          <p:cNvSpPr/>
          <p:nvPr/>
        </p:nvSpPr>
        <p:spPr>
          <a:xfrm>
            <a:off x="9281159" y="3246120"/>
            <a:ext cx="256032" cy="393192"/>
          </a:xfrm>
          <a:prstGeom prst="chevron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73768" y="2322576"/>
            <a:ext cx="1901952" cy="2249424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738360" y="2514600"/>
            <a:ext cx="429768" cy="429768"/>
          </a:xfrm>
          <a:prstGeom prst="round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38360" y="2633472"/>
            <a:ext cx="429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FFFDF8"/>
                </a:solidFill>
                <a:latin typeface="Apto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47504" y="3172968"/>
            <a:ext cx="154533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Vincular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3694176"/>
            <a:ext cx="151790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 i="0">
                <a:solidFill>
                  <a:srgbClr val="67736E"/>
                </a:solidFill>
                <a:latin typeface="Aptos"/>
              </a:rPr>
              <a:t>RapidFuzz
umbral 85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4956048"/>
            <a:ext cx="10972800" cy="105156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6112" y="5193792"/>
            <a:ext cx="18836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FFDF8"/>
                </a:solidFill>
                <a:latin typeface="Aptos Display"/>
              </a:rPr>
              <a:t>YOLO26s-seg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3240" y="515721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BAE56"/>
                </a:solidFill>
                <a:latin typeface="Aptos"/>
              </a:rPr>
              <a:t>10,4 M parámetros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542239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FFFDF8"/>
                </a:solidFill>
                <a:latin typeface="Aptos"/>
              </a:rPr>
              <a:t>una clase: lomo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56048" y="5157216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BAE56"/>
                </a:solidFill>
                <a:latin typeface="Aptos"/>
              </a:rPr>
              <a:t>mAP@0.5 máscara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5404104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DF8"/>
                </a:solidFill>
                <a:latin typeface="Aptos"/>
              </a:rPr>
              <a:t>0,780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75704" y="5157216"/>
            <a:ext cx="10058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BAE56"/>
                </a:solidFill>
                <a:latin typeface="Aptos"/>
              </a:rPr>
              <a:t>latencia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75704" y="5404104"/>
            <a:ext cx="1600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DF8"/>
                </a:solidFill>
                <a:latin typeface="Aptos"/>
              </a:rPr>
              <a:t>~26 ms / imagen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5157216"/>
            <a:ext cx="6583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DBAE56"/>
                </a:solidFill>
                <a:latin typeface="Aptos"/>
              </a:rPr>
              <a:t>salida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5404104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DF8"/>
                </a:solidFill>
                <a:latin typeface="Aptos"/>
              </a:rPr>
              <a:t>máscara + texto + título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" y="6519672"/>
            <a:ext cx="9829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67736E"/>
                </a:solidFill>
                <a:latin typeface="Aptos"/>
              </a:rPr>
              <a:t>Fuentes: demo/inference.py · demo/ocr.py · docs/paper-borrador.md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70464" y="6501384"/>
            <a:ext cx="9875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1" i="0">
                <a:solidFill>
                  <a:srgbClr val="173B32"/>
                </a:solidFill>
                <a:latin typeface="Aptos"/>
              </a:rPr>
              <a:t>LUMEN  ·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C45D3D"/>
                </a:solidFill>
                <a:latin typeface="Aptos"/>
              </a:rPr>
              <a:t>02 ·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73B32"/>
                </a:solidFill>
                <a:latin typeface="Aptos Display"/>
              </a:rPr>
              <a:t>Seis modelos, tres geometrías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7736E"/>
                </a:solidFill>
                <a:latin typeface="Aptos"/>
              </a:rPr>
              <a:t>La comparación válida ocurre dentro de cada familia: AABB, OBB y máscara miden representaciones diferentes.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78A086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73352"/>
            <a:ext cx="1097280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2648" y="1947672"/>
            <a:ext cx="10972800" cy="493776"/>
          </a:xfrm>
          <a:prstGeom prst="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2121408"/>
            <a:ext cx="149961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TAREA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121408"/>
            <a:ext cx="27432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MODELO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7216" y="2121408"/>
            <a:ext cx="1609344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mAP@0.5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2864" y="2121408"/>
            <a:ext cx="15544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mAP@.5:.95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121408"/>
            <a:ext cx="1408176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LATENCIA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8128" y="2121408"/>
            <a:ext cx="13716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1" i="0">
                <a:solidFill>
                  <a:srgbClr val="FFFDF8"/>
                </a:solidFill>
                <a:latin typeface="Aptos"/>
              </a:rPr>
              <a:t>LECTURA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523744"/>
            <a:ext cx="109728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1792" y="2642615"/>
            <a:ext cx="1097280" cy="283464"/>
          </a:xfrm>
          <a:prstGeom prst="round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" y="2702051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AABB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268833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YOLOv8s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57216" y="2688336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0,822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2688336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0,676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688336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~14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8128" y="2706624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67736E"/>
                </a:solidFill>
                <a:latin typeface="Aptos"/>
              </a:rPr>
              <a:t>caja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" y="3108960"/>
            <a:ext cx="10972800" cy="530352"/>
          </a:xfrm>
          <a:prstGeom prst="rect">
            <a:avLst/>
          </a:prstGeom>
          <a:solidFill>
            <a:srgbClr val="F8F5EE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" y="3227832"/>
            <a:ext cx="1097280" cy="283464"/>
          </a:xfrm>
          <a:prstGeom prst="round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1792" y="3287268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AABB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327355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Faster R-CNN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273552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0,799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3273552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0,603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273552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~119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68128" y="3291840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67736E"/>
                </a:solidFill>
                <a:latin typeface="Aptos"/>
              </a:rPr>
              <a:t>caja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" y="3694176"/>
            <a:ext cx="109728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21792" y="3813048"/>
            <a:ext cx="1097280" cy="283464"/>
          </a:xfrm>
          <a:prstGeom prst="roundRect">
            <a:avLst/>
          </a:prstGeom>
          <a:solidFill>
            <a:srgbClr val="F2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3872484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OBB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67712" y="38587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YOLOv8s-OBB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7216" y="3858768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0,728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3858768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0,351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858768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~31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68128" y="3877056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67736E"/>
                </a:solidFill>
                <a:latin typeface="Aptos"/>
              </a:rPr>
              <a:t>caja orientada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" y="4279392"/>
            <a:ext cx="10972800" cy="530352"/>
          </a:xfrm>
          <a:prstGeom prst="rect">
            <a:avLst/>
          </a:prstGeom>
          <a:solidFill>
            <a:srgbClr val="F8F5EE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21792" y="4398264"/>
            <a:ext cx="1097280" cy="283464"/>
          </a:xfrm>
          <a:prstGeom prst="roundRect">
            <a:avLst/>
          </a:prstGeom>
          <a:solidFill>
            <a:srgbClr val="F2D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" y="4457700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OBB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67712" y="4443983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YOLO26s-OBB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57216" y="4443983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0,848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2864" y="4443983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0,532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13648" y="4443983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~18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68128" y="4462272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67736E"/>
                </a:solidFill>
                <a:latin typeface="Aptos"/>
              </a:rPr>
              <a:t>caja orientada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648" y="4864607"/>
            <a:ext cx="10972800" cy="530352"/>
          </a:xfrm>
          <a:prstGeom prst="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1792" y="4983479"/>
            <a:ext cx="1097280" cy="283464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1792" y="5042916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MÁSCARA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67712" y="5029199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45D3D"/>
                </a:solidFill>
                <a:latin typeface="Aptos"/>
              </a:rPr>
              <a:t>YOLO26s-seg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57216" y="5029199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0,780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2864" y="5029199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0,562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13648" y="5029199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~26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68128" y="5047488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 i="0">
                <a:solidFill>
                  <a:srgbClr val="67736E"/>
                </a:solidFill>
                <a:latin typeface="Aptos"/>
              </a:rPr>
              <a:t>máscara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2648" y="5449823"/>
            <a:ext cx="10972800" cy="530352"/>
          </a:xfrm>
          <a:prstGeom prst="rect">
            <a:avLst/>
          </a:prstGeom>
          <a:solidFill>
            <a:srgbClr val="F8F5EE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621792" y="5568695"/>
            <a:ext cx="1097280" cy="283464"/>
          </a:xfrm>
          <a:prstGeom prst="roundRect">
            <a:avLst/>
          </a:prstGeom>
          <a:solidFill>
            <a:srgbClr val="DCE9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1792" y="5628131"/>
            <a:ext cx="109728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MÁSCARA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67712" y="5614415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Mask R-CNN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57216" y="5614415"/>
            <a:ext cx="160934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0,785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12864" y="5614415"/>
            <a:ext cx="15544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173B32"/>
                </a:solidFill>
                <a:latin typeface="Aptos"/>
              </a:rPr>
              <a:t>0,507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13648" y="5614415"/>
            <a:ext cx="140817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 i="0">
                <a:solidFill>
                  <a:srgbClr val="173B32"/>
                </a:solidFill>
                <a:latin typeface="Aptos"/>
              </a:rPr>
              <a:t>~117 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68128" y="5632703"/>
            <a:ext cx="1371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0" i="0">
                <a:solidFill>
                  <a:srgbClr val="67736E"/>
                </a:solidFill>
                <a:latin typeface="Aptos"/>
              </a:rPr>
              <a:t>máscara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2648" y="6144768"/>
            <a:ext cx="10972800" cy="256032"/>
          </a:xfrm>
          <a:prstGeom prst="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7240" y="6199632"/>
            <a:ext cx="10625328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90" b="1" i="0">
                <a:solidFill>
                  <a:srgbClr val="173B32"/>
                </a:solidFill>
                <a:latin typeface="Aptos"/>
              </a:rPr>
              <a:t>OBB: validación interna Ultralytics; AABB y máscara: protocolo de reevaluación. No usar esta tabla como ranking global.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1792" y="6519672"/>
            <a:ext cx="9829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67736E"/>
                </a:solidFill>
                <a:latin typeface="Aptos"/>
              </a:rPr>
              <a:t>Fuente: docs/paper-borrador.md · validación sobre Book Spine 2 v4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570464" y="6501384"/>
            <a:ext cx="9875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1" i="0">
                <a:solidFill>
                  <a:srgbClr val="173B32"/>
                </a:solidFill>
                <a:latin typeface="Aptos"/>
              </a:rPr>
              <a:t>LUMEN  ·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C45D3D"/>
                </a:solidFill>
                <a:latin typeface="Aptos"/>
              </a:rPr>
              <a:t>03 ·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73B32"/>
                </a:solidFill>
                <a:latin typeface="Aptos Display"/>
              </a:rPr>
              <a:t>El ganador es YOLO26s-seg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7736E"/>
                </a:solidFill>
                <a:latin typeface="Aptos"/>
              </a:rPr>
              <a:t>Mask R-CNN mejora apenas el mAP@0.5; YOLO26 conserva una máscara competitiva con mucha menos latencia.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78A086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73352"/>
            <a:ext cx="1097280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1792" y="1993392"/>
            <a:ext cx="7059168" cy="40690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49424"/>
            <a:ext cx="4114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73B32"/>
                </a:solidFill>
                <a:latin typeface="Aptos Display"/>
              </a:rPr>
              <a:t>Comparación dentro de segmentación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67736E"/>
                </a:solidFill>
                <a:latin typeface="Aptos"/>
              </a:rPr>
              <a:t>MAP@0.5 MÁSCARA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0592" y="2779776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78A086"/>
                </a:solidFill>
                <a:latin typeface="Aptos"/>
              </a:rPr>
              <a:t>YOLO26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82112" y="2788920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82112" y="2788920"/>
            <a:ext cx="1818741" cy="164592"/>
          </a:xfrm>
          <a:prstGeom prst="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32704" y="27340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173B32"/>
                </a:solidFill>
                <a:latin typeface="Aptos"/>
              </a:rPr>
              <a:t>0,780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50592" y="3099815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C45D3D"/>
                </a:solidFill>
                <a:latin typeface="Aptos"/>
              </a:rPr>
              <a:t>MASK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82112" y="3108960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182112" y="3108960"/>
            <a:ext cx="1830400" cy="164592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32704" y="305409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173B32"/>
                </a:solidFill>
                <a:latin typeface="Aptos"/>
              </a:rPr>
              <a:t>0,785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73368" y="2880360"/>
            <a:ext cx="987552" cy="283464"/>
          </a:xfrm>
          <a:prstGeom prst="round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73368" y="2939796"/>
            <a:ext cx="9875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0,005 DIFERENCIA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730752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67736E"/>
                </a:solidFill>
                <a:latin typeface="Aptos"/>
              </a:rPr>
              <a:t>MAP@0.5:0.95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50592" y="3721608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78A086"/>
                </a:solidFill>
                <a:latin typeface="Aptos"/>
              </a:rPr>
              <a:t>YOLO26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82112" y="3730752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82112" y="3730752"/>
            <a:ext cx="1310426" cy="164592"/>
          </a:xfrm>
          <a:prstGeom prst="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32704" y="367588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173B32"/>
                </a:solidFill>
                <a:latin typeface="Aptos"/>
              </a:rPr>
              <a:t>0,562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0592" y="4041648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C45D3D"/>
                </a:solidFill>
                <a:latin typeface="Aptos"/>
              </a:rPr>
              <a:t>MASK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82112" y="4050791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182112" y="4050791"/>
            <a:ext cx="1182182" cy="164592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32704" y="3995928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173B32"/>
                </a:solidFill>
                <a:latin typeface="Aptos"/>
              </a:rPr>
              <a:t>0,507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73368" y="3822191"/>
            <a:ext cx="987552" cy="283464"/>
          </a:xfrm>
          <a:prstGeom prst="round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73368" y="3881628"/>
            <a:ext cx="9875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MEJOR AJUSTE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672583"/>
            <a:ext cx="14813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" b="1" i="0">
                <a:solidFill>
                  <a:srgbClr val="67736E"/>
                </a:solidFill>
                <a:latin typeface="Aptos"/>
              </a:rPr>
              <a:t>LATENCIA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4663440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78A086"/>
                </a:solidFill>
                <a:latin typeface="Aptos"/>
              </a:rPr>
              <a:t>YOLO26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82112" y="4672583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182112" y="4672583"/>
            <a:ext cx="518160" cy="164592"/>
          </a:xfrm>
          <a:prstGeom prst="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32704" y="4617720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173B32"/>
                </a:solidFill>
                <a:latin typeface="Aptos"/>
              </a:rPr>
              <a:t>26 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50592" y="4983479"/>
            <a:ext cx="694944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C45D3D"/>
                </a:solidFill>
                <a:latin typeface="Aptos"/>
              </a:rPr>
              <a:t>MASK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82112" y="4992623"/>
            <a:ext cx="2331720" cy="164592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182112" y="4992623"/>
            <a:ext cx="2331720" cy="164592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32704" y="4937759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0" i="0">
                <a:solidFill>
                  <a:srgbClr val="173B32"/>
                </a:solidFill>
                <a:latin typeface="Aptos"/>
              </a:rPr>
              <a:t>117 ms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73368" y="4764023"/>
            <a:ext cx="987552" cy="283464"/>
          </a:xfrm>
          <a:prstGeom prst="roundRect">
            <a:avLst/>
          </a:prstGeom>
          <a:solidFill>
            <a:srgbClr val="F3E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3368" y="4823459"/>
            <a:ext cx="987552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4,5× MÁS RÁPIDO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936992" y="1993392"/>
            <a:ext cx="3648456" cy="4069080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842248" y="2313432"/>
            <a:ext cx="1828800" cy="283464"/>
          </a:xfrm>
          <a:prstGeom prst="round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842248" y="2372868"/>
            <a:ext cx="1828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MODELO ELEGIDO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02752" y="2862072"/>
            <a:ext cx="2916936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FFDF8"/>
                </a:solidFill>
                <a:latin typeface="Aptos Display"/>
              </a:rPr>
              <a:t>YOLO26s-seg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529584"/>
            <a:ext cx="2871216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DCE9DF"/>
                </a:solidFill>
                <a:latin typeface="Aptos"/>
              </a:rPr>
              <a:t>Máscara útil para OCR
+ velocidad interactiva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4425696"/>
            <a:ext cx="2697480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60">
                <a:solidFill>
                  <a:srgbClr val="FFFDF8"/>
                </a:solidFill>
                <a:latin typeface="Aptos"/>
              </a:defRPr>
            </a:pPr>
            <a:r>
              <a:rPr>
                <a:solidFill>
                  <a:srgbClr val="DBAE56"/>
                </a:solidFill>
              </a:rPr>
              <a:t>●  Reduce fondo y texto vecino.</a:t>
            </a:r>
          </a:p>
          <a:p>
            <a:pPr>
              <a:spcAft>
                <a:spcPts val="1000"/>
              </a:spcAft>
              <a:defRPr sz="1060">
                <a:solidFill>
                  <a:srgbClr val="FFFDF8"/>
                </a:solidFill>
                <a:latin typeface="Aptos"/>
              </a:defRPr>
            </a:pPr>
            <a:r>
              <a:rPr>
                <a:solidFill>
                  <a:srgbClr val="FFFDF8"/>
                </a:solidFill>
              </a:rPr>
              <a:t>●  Mantiene calidad competitiva.</a:t>
            </a:r>
          </a:p>
          <a:p>
            <a:pPr>
              <a:spcAft>
                <a:spcPts val="1000"/>
              </a:spcAft>
              <a:defRPr sz="1060">
                <a:solidFill>
                  <a:srgbClr val="FFFDF8"/>
                </a:solidFill>
                <a:latin typeface="Aptos"/>
              </a:defRPr>
            </a:pPr>
            <a:r>
              <a:rPr>
                <a:solidFill>
                  <a:srgbClr val="FFFDF8"/>
                </a:solidFill>
              </a:rPr>
              <a:t>●  Encaja en el pipeline completo.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" y="6519672"/>
            <a:ext cx="9829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67736E"/>
                </a:solidFill>
                <a:latin typeface="Aptos"/>
              </a:rPr>
              <a:t>Fuente: docs/paper-borrador.md · mejor checkpoint YOLO26s-seg: época 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70464" y="6501384"/>
            <a:ext cx="9875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1" i="0">
                <a:solidFill>
                  <a:srgbClr val="173B32"/>
                </a:solidFill>
                <a:latin typeface="Aptos"/>
              </a:rPr>
              <a:t>LUMEN  ·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65760"/>
            <a:ext cx="3840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C45D3D"/>
                </a:solidFill>
                <a:latin typeface="Aptos"/>
              </a:rPr>
              <a:t>04 · EJEMPLO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694944"/>
            <a:ext cx="106984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173B32"/>
                </a:solidFill>
                <a:latin typeface="Aptos Display"/>
              </a:rPr>
              <a:t>De la máscara al título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52728"/>
            <a:ext cx="103784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7736E"/>
                </a:solidFill>
                <a:latin typeface="Aptos"/>
              </a:rPr>
              <a:t>Un caso real muestra cómo YOLO26s-seg aísla el lomo y habilita una lectura OCR verificable.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37392" y="393192"/>
            <a:ext cx="411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 i="0">
                <a:solidFill>
                  <a:srgbClr val="78A08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673352"/>
            <a:ext cx="10972800" cy="13716"/>
          </a:xfrm>
          <a:prstGeom prst="rect">
            <a:avLst/>
          </a:prstGeom>
          <a:solidFill>
            <a:srgbClr val="DED8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2648" y="1965960"/>
            <a:ext cx="6739128" cy="4169663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estante2.jpg"/>
          <p:cNvPicPr>
            <a:picLocks noChangeAspect="1"/>
          </p:cNvPicPr>
          <p:nvPr/>
        </p:nvPicPr>
        <p:blipFill>
          <a:blip r:embed="rId2"/>
          <a:srcRect t="11688" b="11688"/>
          <a:stretch>
            <a:fillRect/>
          </a:stretch>
        </p:blipFill>
        <p:spPr>
          <a:xfrm>
            <a:off x="768096" y="2121408"/>
            <a:ext cx="6428232" cy="369417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489704" y="2185416"/>
            <a:ext cx="310896" cy="3538728"/>
          </a:xfrm>
          <a:prstGeom prst="rect">
            <a:avLst/>
          </a:prstGeom>
          <a:noFill/>
          <a:ln w="38100">
            <a:solidFill>
              <a:srgbClr val="DBA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17720" y="2267712"/>
            <a:ext cx="1572768" cy="283464"/>
          </a:xfrm>
          <a:prstGeom prst="round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2327148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173B32"/>
                </a:solidFill>
                <a:latin typeface="Aptos"/>
              </a:rPr>
              <a:t>LOMO SELECCIONADO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5916168"/>
            <a:ext cx="1920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 i="0">
                <a:solidFill>
                  <a:srgbClr val="67736E"/>
                </a:solidFill>
                <a:latin typeface="Aptos"/>
              </a:rPr>
              <a:t>01 · FOTO PROPIA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04872" y="5897880"/>
            <a:ext cx="4553712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 i="0">
                <a:solidFill>
                  <a:srgbClr val="173B32"/>
                </a:solidFill>
                <a:latin typeface="Aptos"/>
              </a:rPr>
              <a:t>YOLO26s-seg localizó 25 lomos en la escena.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98664" y="1965960"/>
            <a:ext cx="3986784" cy="4169663"/>
          </a:xfrm>
          <a:prstGeom prst="roundRect">
            <a:avLst/>
          </a:prstGeom>
          <a:solidFill>
            <a:srgbClr val="173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46136" y="2267712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DBAE56"/>
                </a:solidFill>
                <a:latin typeface="Aptos"/>
              </a:rPr>
              <a:t>02 · RECORTE ENDEREZADO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6136" y="2569464"/>
            <a:ext cx="3291840" cy="786384"/>
          </a:xfrm>
          <a:prstGeom prst="roundRect">
            <a:avLst/>
          </a:prstGeom>
          <a:solidFill>
            <a:srgbClr val="F3E5C5"/>
          </a:solidFill>
          <a:ln w="12700">
            <a:solidFill>
              <a:srgbClr val="DBA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estante2_0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575" y="2872515"/>
            <a:ext cx="3108960" cy="18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946136" y="3657600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78A086"/>
                </a:solidFill>
                <a:latin typeface="Aptos"/>
              </a:rPr>
              <a:t>03 · PADDLEOCR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6136" y="3977639"/>
            <a:ext cx="32918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50" b="1" i="0">
                <a:solidFill>
                  <a:srgbClr val="FFFDF8"/>
                </a:solidFill>
                <a:latin typeface="Aptos Display"/>
              </a:rPr>
              <a:t>DESDE EL OJO DEL PEZ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4443984"/>
            <a:ext cx="2103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CE9DF"/>
                </a:solidFill>
                <a:latin typeface="Aptos"/>
              </a:rPr>
              <a:t>Pablo De Santis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46136" y="4983480"/>
            <a:ext cx="1481328" cy="877824"/>
          </a:xfrm>
          <a:prstGeom prst="roundRect">
            <a:avLst/>
          </a:prstGeom>
          <a:solidFill>
            <a:srgbClr val="DCE9DF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6136" y="4983480"/>
            <a:ext cx="54864" cy="877824"/>
          </a:xfrm>
          <a:prstGeom prst="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47304" y="5102352"/>
            <a:ext cx="116128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3B32"/>
                </a:solidFill>
                <a:latin typeface="Aptos Display"/>
              </a:rPr>
              <a:t>0,944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5568696"/>
            <a:ext cx="115214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 i="0">
                <a:solidFill>
                  <a:srgbClr val="67736E"/>
                </a:solidFill>
                <a:latin typeface="Aptos"/>
              </a:rPr>
              <a:t>CONFIANZA OCR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65208" y="4983480"/>
            <a:ext cx="1572768" cy="877824"/>
          </a:xfrm>
          <a:prstGeom prst="roundRect">
            <a:avLst/>
          </a:prstGeom>
          <a:solidFill>
            <a:srgbClr val="F3E5C5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665208" y="4983480"/>
            <a:ext cx="54864" cy="877824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66376" y="5102352"/>
            <a:ext cx="1252728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73B32"/>
                </a:solidFill>
                <a:latin typeface="Aptos Display"/>
              </a:rP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5568696"/>
            <a:ext cx="1243584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 i="0">
                <a:solidFill>
                  <a:srgbClr val="67736E"/>
                </a:solidFill>
                <a:latin typeface="Aptos"/>
              </a:rPr>
              <a:t>SIMILITUD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19672"/>
            <a:ext cx="98298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80" b="0" i="0">
                <a:solidFill>
                  <a:srgbClr val="67736E"/>
                </a:solidFill>
                <a:latin typeface="Aptos"/>
              </a:rPr>
              <a:t>Fuentes: fotos_propias/estante2.jpg · resultados_ocr/recortes/estante2_009.jpg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70464" y="6501384"/>
            <a:ext cx="987552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720" b="1" i="0">
                <a:solidFill>
                  <a:srgbClr val="173B32"/>
                </a:solidFill>
                <a:latin typeface="Aptos"/>
              </a:rPr>
              <a:t>LUMEN  ·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stante2.jpg"/>
          <p:cNvPicPr>
            <a:picLocks noChangeAspect="1"/>
          </p:cNvPicPr>
          <p:nvPr/>
        </p:nvPicPr>
        <p:blipFill>
          <a:blip r:embed="rId2"/>
          <a:srcRect l="23350" r="23350"/>
          <a:stretch>
            <a:fillRect/>
          </a:stretch>
        </p:blipFill>
        <p:spPr>
          <a:xfrm>
            <a:off x="7315200" y="0"/>
            <a:ext cx="48737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59752" y="0"/>
            <a:ext cx="164592" cy="6858000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94360" y="347472"/>
            <a:ext cx="365760" cy="365760"/>
          </a:xfrm>
          <a:prstGeom prst="rect">
            <a:avLst/>
          </a:prstGeom>
          <a:solidFill>
            <a:srgbClr val="FFF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67512" y="411480"/>
            <a:ext cx="45720" cy="237744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49808" y="411480"/>
            <a:ext cx="137160" cy="237744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664208"/>
            <a:ext cx="5806440" cy="11338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 i="0">
                <a:solidFill>
                  <a:srgbClr val="FFFDF8"/>
                </a:solidFill>
                <a:latin typeface="Aptos Display"/>
              </a:rPr>
              <a:t>Del lomo
al inventario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81528"/>
            <a:ext cx="5870448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 i="0">
                <a:solidFill>
                  <a:srgbClr val="DCE9DF"/>
                </a:solidFill>
                <a:latin typeface="Aptos"/>
              </a:rPr>
              <a:t>YOLO26s-seg convierte la geometría del estante en un recorte útil;
el OCR y el catálogo lo convierten en información accionable.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42816"/>
            <a:ext cx="1627632" cy="877824"/>
          </a:xfrm>
          <a:prstGeom prst="roundRect">
            <a:avLst/>
          </a:prstGeom>
          <a:solidFill>
            <a:srgbClr val="DCE9DF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85800" y="4242816"/>
            <a:ext cx="54864" cy="877824"/>
          </a:xfrm>
          <a:prstGeom prst="rect">
            <a:avLst/>
          </a:prstGeom>
          <a:solidFill>
            <a:srgbClr val="78A0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4361688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3B32"/>
                </a:solidFill>
                <a:latin typeface="Aptos Display"/>
              </a:rPr>
              <a:t>0,780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828031"/>
            <a:ext cx="129844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 i="0">
                <a:solidFill>
                  <a:srgbClr val="67736E"/>
                </a:solidFill>
                <a:latin typeface="Aptos"/>
              </a:rPr>
              <a:t>MAP@0.5 MÁSCARA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96312" y="4242816"/>
            <a:ext cx="1627632" cy="877824"/>
          </a:xfrm>
          <a:prstGeom prst="roundRect">
            <a:avLst/>
          </a:prstGeom>
          <a:solidFill>
            <a:srgbClr val="F3E5C5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496312" y="4242816"/>
            <a:ext cx="54864" cy="877824"/>
          </a:xfrm>
          <a:prstGeom prst="rect">
            <a:avLst/>
          </a:prstGeom>
          <a:solidFill>
            <a:srgbClr val="DBA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697480" y="4361688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73B32"/>
                </a:solidFill>
                <a:latin typeface="Aptos Display"/>
              </a:rPr>
              <a:t>~26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6624" y="4828031"/>
            <a:ext cx="129844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 i="0">
                <a:solidFill>
                  <a:srgbClr val="67736E"/>
                </a:solidFill>
                <a:latin typeface="Aptos"/>
              </a:rPr>
              <a:t>LATENCIA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6824" y="4242816"/>
            <a:ext cx="1627632" cy="877824"/>
          </a:xfrm>
          <a:prstGeom prst="roundRect">
            <a:avLst/>
          </a:prstGeom>
          <a:solidFill>
            <a:srgbClr val="F2DCD4"/>
          </a:solidFill>
          <a:ln w="12700">
            <a:solidFill>
              <a:srgbClr val="DED8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06824" y="4242816"/>
            <a:ext cx="54864" cy="877824"/>
          </a:xfrm>
          <a:prstGeom prst="rect">
            <a:avLst/>
          </a:prstGeom>
          <a:solidFill>
            <a:srgbClr val="C45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07992" y="4361688"/>
            <a:ext cx="130759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73B32"/>
                </a:solidFill>
                <a:latin typeface="Aptos Display"/>
              </a:rPr>
              <a:t>8/19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4828031"/>
            <a:ext cx="1298448" cy="1554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10" b="1" i="0">
                <a:solidFill>
                  <a:srgbClr val="67736E"/>
                </a:solidFill>
                <a:latin typeface="Aptos"/>
              </a:rPr>
              <a:t>MATCHES 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989320"/>
            <a:ext cx="15087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FFDF8"/>
                </a:solidFill>
                <a:latin typeface="Aptos Display"/>
              </a:rP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509</Words>
  <Application>Microsoft Office PowerPoint</Application>
  <PresentationFormat>Panorámica</PresentationFormat>
  <Paragraphs>142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— YOLO26 y OCR para inventario bibliográfico</dc:title>
  <dc:subject>Presentación breve del trabajo final</dc:subject>
  <dc:creator>Marcelo Luna, Facundo Silberstein, Francisco Meaca, Ian Ezequiel</dc:creator>
  <cp:keywords>YOLO26, OCR, bibliotecas, visión artificial</cp:keywords>
  <dc:description>Seis diapositivas generadas desde artefactos del repositorio.</dc:description>
  <cp:lastModifiedBy>Meaca, Francisco Valentin</cp:lastModifiedBy>
  <cp:revision>1</cp:revision>
  <dcterms:created xsi:type="dcterms:W3CDTF">2013-01-27T09:14:16Z</dcterms:created>
  <dcterms:modified xsi:type="dcterms:W3CDTF">2026-10-11T23:56:11Z</dcterms:modified>
  <cp:category/>
</cp:coreProperties>
</file>